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E1E"/>
                </a:solidFill>
                <a:latin typeface="Arial"/>
              </a:defRPr>
            </a:pPr>
            <a:r>
              <a:t>Unsupervised Abnormality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2402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F5F5F"/>
                </a:solidFill>
                <a:latin typeface="Arial"/>
              </a:defRPr>
            </a:pPr>
            <a:r>
              <a:t>Cyclone Preheater Industrial Time-Series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0" y="2971800"/>
            <a:ext cx="6126480" cy="228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5F5F5F"/>
                </a:solidFill>
                <a:latin typeface="Arial"/>
              </a:defRPr>
            </a:pPr>
            <a:r>
              <a:t>Objective</a:t>
            </a:r>
          </a:p>
          <a:p>
            <a:pPr algn="ctr">
              <a:defRPr sz="2100" b="1">
                <a:solidFill>
                  <a:srgbClr val="1E1E1E"/>
                </a:solidFill>
                <a:latin typeface="Arial"/>
              </a:defRPr>
            </a:pPr>
            <a:r>
              <a:t>Highlight time periods where abnormal process behaviour can be observed.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  <a:latin typeface="Arial"/>
              </a:defRPr>
            </a:pPr>
            <a:r>
              <a:t>Algo8 Data Scientist Assignment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1E1E"/>
                </a:solidFill>
                <a:latin typeface="Arial"/>
              </a:defRPr>
            </a:pPr>
            <a:r>
              <a:t>About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rial"/>
              </a:defRPr>
            </a:pPr>
            <a:r>
              <a:t>6 variables • ~370K records • recorded approximately every 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Dataset represents a cyclone preheater within an industrial process.</a:t>
            </a:r>
          </a:p>
          <a:p>
            <a:pPr>
              <a:spcAft>
                <a:spcPts val="12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Data covers approximately 3 years of operation.</a:t>
            </a:r>
          </a:p>
          <a:p>
            <a:pPr>
              <a:spcAft>
                <a:spcPts val="12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The task provides no labelled abnormal events, so abnormality detection is treated as an unsupervised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37160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1E1E1E"/>
                </a:solidFill>
                <a:latin typeface="Arial"/>
              </a:defRPr>
            </a:pPr>
            <a:r>
              <a:t>• Cyclone_Inlet_Gas_Temp — Temperature of hot gas entering the cyclone.</a:t>
            </a:r>
          </a:p>
          <a:p>
            <a:pPr>
              <a:spcAft>
                <a:spcPts val="1200"/>
              </a:spcAft>
              <a:defRPr sz="1150">
                <a:solidFill>
                  <a:srgbClr val="1E1E1E"/>
                </a:solidFill>
                <a:latin typeface="Arial"/>
              </a:defRPr>
            </a:pPr>
            <a:r>
              <a:t>• Cyclone_Gas_Outlet_Temp — Temperature of hot gas leaving the cyclone.</a:t>
            </a:r>
          </a:p>
          <a:p>
            <a:pPr>
              <a:spcAft>
                <a:spcPts val="1200"/>
              </a:spcAft>
              <a:defRPr sz="1150">
                <a:solidFill>
                  <a:srgbClr val="1E1E1E"/>
                </a:solidFill>
                <a:latin typeface="Arial"/>
              </a:defRPr>
            </a:pPr>
            <a:r>
              <a:t>• Cyclone_Outlet_Gas_draft — Draft (pressure) at the cyclone outlet.</a:t>
            </a:r>
          </a:p>
          <a:p>
            <a:pPr>
              <a:spcAft>
                <a:spcPts val="1200"/>
              </a:spcAft>
              <a:defRPr sz="1150">
                <a:solidFill>
                  <a:srgbClr val="1E1E1E"/>
                </a:solidFill>
                <a:latin typeface="Arial"/>
              </a:defRPr>
            </a:pPr>
            <a:r>
              <a:t>• Cyclone_cone_draft — Draft (pressure) at the cone section.</a:t>
            </a:r>
          </a:p>
          <a:p>
            <a:pPr>
              <a:spcAft>
                <a:spcPts val="1200"/>
              </a:spcAft>
              <a:defRPr sz="1150">
                <a:solidFill>
                  <a:srgbClr val="1E1E1E"/>
                </a:solidFill>
                <a:latin typeface="Arial"/>
              </a:defRPr>
            </a:pPr>
            <a:r>
              <a:t>• Cyclone_Inlet_Draft — Draft (pressure) at the cyclone inlet.</a:t>
            </a:r>
          </a:p>
          <a:p>
            <a:pPr>
              <a:spcAft>
                <a:spcPts val="1200"/>
              </a:spcAft>
              <a:defRPr sz="1150">
                <a:solidFill>
                  <a:srgbClr val="1E1E1E"/>
                </a:solidFill>
                <a:latin typeface="Arial"/>
              </a:defRPr>
            </a:pPr>
            <a:r>
              <a:t>• Cyclone_Material_Temp — Temperature of material at the cyclone outlet.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  <a:latin typeface="Arial"/>
              </a:defRPr>
            </a:pPr>
            <a:r>
              <a:t>Algo8 Data Scientist Assignment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1E1E"/>
                </a:solidFill>
                <a:latin typeface="Arial"/>
              </a:defRPr>
            </a:pPr>
            <a: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rial"/>
              </a:defRPr>
            </a:pPr>
            <a:r>
              <a:t>Key treatment and reasoning applied to the raw time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• Parsed mixed timestamp formats and sorted the observations chronologically.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• Checked duplicate timestamps and sampling intervals.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• Most observations were 5 minutes apart; calendar gaps were preserved rather than artificially filled.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• Converted sensor columns to numeric values and identified non-numeric sensor/status values.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• Status values such as “Not Connect” and “I/O Timeout” were treated as invalid/unknown measurements.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• Validated the cleaned data before proceeding to multivariate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  <a:latin typeface="Arial"/>
              </a:defRPr>
            </a:pPr>
            <a:r>
              <a:t>Algo8 Data Scientist Assignment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1E1E"/>
                </a:solidFill>
                <a:latin typeface="Arial"/>
              </a:defRPr>
            </a:pPr>
            <a:r>
              <a:t>Analysis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rial"/>
              </a:defRPr>
            </a:pPr>
            <a:r>
              <a:t>From process understanding to candidate abnormal periods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219456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1E1E"/>
                </a:solidFill>
                <a:latin typeface="Arial"/>
              </a:defRPr>
            </a:pPr>
            <a:r>
              <a:t>1.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41732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  <a:latin typeface="Arial"/>
              </a:defRPr>
            </a:pPr>
            <a:r>
              <a:t>Distributions, trends and temporal behaviour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76272"/>
            <a:ext cx="219456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1E1E"/>
                </a:solidFill>
                <a:latin typeface="Arial"/>
              </a:defRPr>
            </a:pPr>
            <a:r>
              <a:t>2.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221991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  <a:latin typeface="Arial"/>
              </a:defRPr>
            </a:pPr>
            <a:r>
              <a:t>Correlation, rolling correlation and lag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80944"/>
            <a:ext cx="219456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1E1E"/>
                </a:solidFill>
                <a:latin typeface="Arial"/>
              </a:defRPr>
            </a:pPr>
            <a:r>
              <a:t>3. Volatility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026663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  <a:latin typeface="Arial"/>
              </a:defRPr>
            </a:pPr>
            <a:r>
              <a:t>Robust median/IQR scaling and rolling variability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785615"/>
            <a:ext cx="219456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1E1E"/>
                </a:solidFill>
                <a:latin typeface="Arial"/>
              </a:defRPr>
            </a:pPr>
            <a:r>
              <a:t>4. PCA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831335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  <a:latin typeface="Arial"/>
              </a:defRPr>
            </a:pPr>
            <a:r>
              <a:t>Multivariate structure, PCA-space deviation and reconstruction 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590288"/>
            <a:ext cx="219456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1E1E"/>
                </a:solidFill>
                <a:latin typeface="Arial"/>
              </a:defRPr>
            </a:pPr>
            <a:r>
              <a:t>5. Isolation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636007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  <a:latin typeface="Arial"/>
              </a:defRPr>
            </a:pPr>
            <a:r>
              <a:t>Independent machine-learning cross-check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394959"/>
            <a:ext cx="219456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1E1E"/>
                </a:solidFill>
                <a:latin typeface="Arial"/>
              </a:defRPr>
            </a:pPr>
            <a:r>
              <a:t>6.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440679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  <a:latin typeface="Arial"/>
              </a:defRPr>
            </a:pPr>
            <a:r>
              <a:t>Compare methods and visually inspect shortlisted periods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  <a:latin typeface="Arial"/>
              </a:defRPr>
            </a:pPr>
            <a:r>
              <a:t>Algo8 Data Scientist Assignment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1E1E"/>
                </a:solidFill>
                <a:latin typeface="Arial"/>
              </a:defRPr>
            </a:pPr>
            <a:r>
              <a:t>Insights &amp; Candidate Abnormal Periods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rial"/>
              </a:defRPr>
            </a:pPr>
            <a:r>
              <a:t>Final output: periods supported by multi-sensor evidence and visual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1E1E1E"/>
                </a:solidFill>
                <a:latin typeface="Arial"/>
              </a:defRPr>
            </a:pPr>
            <a:r>
              <a:t>• The six process variables show strong interrelationships, with temperature and draft groups moving in coordinated patterns.</a:t>
            </a:r>
          </a:p>
          <a:p>
            <a:pPr>
              <a:spcAft>
                <a:spcPts val="1200"/>
              </a:spcAft>
              <a:defRPr sz="1350">
                <a:solidFill>
                  <a:srgbClr val="1E1E1E"/>
                </a:solidFill>
                <a:latin typeface="Arial"/>
              </a:defRPr>
            </a:pPr>
            <a:r>
              <a:t>• Temperature–draft relationships are generally strongly inverse, but the relationship changes over time.</a:t>
            </a:r>
          </a:p>
          <a:p>
            <a:pPr>
              <a:spcAft>
                <a:spcPts val="1200"/>
              </a:spcAft>
              <a:defRPr sz="1350">
                <a:solidFill>
                  <a:srgbClr val="1E1E1E"/>
                </a:solidFill>
                <a:latin typeface="Arial"/>
              </a:defRPr>
            </a:pPr>
            <a:r>
              <a:t>• Abnormal behaviour can appear as a coordinated change across multiple sensors rather than as one extreme value.</a:t>
            </a:r>
          </a:p>
          <a:p>
            <a:pPr>
              <a:spcAft>
                <a:spcPts val="1200"/>
              </a:spcAft>
              <a:defRPr sz="1350">
                <a:solidFill>
                  <a:srgbClr val="1E1E1E"/>
                </a:solidFill>
                <a:latin typeface="Arial"/>
              </a:defRPr>
            </a:pPr>
            <a:r>
              <a:t>• Candidate periods were compared across PCA, Isolation Forest and volatility-based detection.</a:t>
            </a:r>
          </a:p>
          <a:p>
            <a:pPr>
              <a:spcAft>
                <a:spcPts val="1200"/>
              </a:spcAft>
              <a:defRPr sz="1350">
                <a:solidFill>
                  <a:srgbClr val="1E1E1E"/>
                </a:solidFill>
                <a:latin typeface="Arial"/>
              </a:defRPr>
            </a:pPr>
            <a:r>
              <a:t>• Because there are no ground-truth labels, the identified periods are candidate abnormal periods for domain-expert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141732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1E"/>
                </a:solidFill>
                <a:latin typeface="Arial"/>
              </a:defRPr>
            </a:pPr>
            <a:r>
              <a:t>Representative candidate periods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205740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1E1E"/>
                </a:solidFill>
                <a:latin typeface="Arial"/>
              </a:defRPr>
            </a:pPr>
            <a:r>
              <a:t>09 Jun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205740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5F5F"/>
                </a:solidFill>
                <a:latin typeface="Arial"/>
              </a:defRPr>
            </a:pPr>
            <a:r>
              <a:t>02:10–02:40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205740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1E1E"/>
                </a:solidFill>
                <a:latin typeface="Arial"/>
              </a:defRPr>
            </a:pPr>
            <a:r>
              <a:t>6/6 sensors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83464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1E1E"/>
                </a:solidFill>
                <a:latin typeface="Arial"/>
              </a:defRPr>
            </a:pPr>
            <a:r>
              <a:t>12 Dec 2017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83464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5F5F"/>
                </a:solidFill>
                <a:latin typeface="Arial"/>
              </a:defRPr>
            </a:pPr>
            <a:r>
              <a:t>23:20–23:45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283464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1E1E"/>
                </a:solidFill>
                <a:latin typeface="Arial"/>
              </a:defRPr>
            </a:pPr>
            <a:r>
              <a:t>6/6 sensors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61188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1E1E"/>
                </a:solidFill>
                <a:latin typeface="Arial"/>
              </a:defRPr>
            </a:pPr>
            <a:r>
              <a:t>10 Jul 2018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61188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5F5F"/>
                </a:solidFill>
                <a:latin typeface="Arial"/>
              </a:defRPr>
            </a:pPr>
            <a:r>
              <a:t>14:00–14:15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361188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1E1E"/>
                </a:solidFill>
                <a:latin typeface="Arial"/>
              </a:defRPr>
            </a:pPr>
            <a:r>
              <a:t>6/6 sensors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438912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1E1E"/>
                </a:solidFill>
                <a:latin typeface="Arial"/>
              </a:defRPr>
            </a:pPr>
            <a:r>
              <a:t>13 Jul 2018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438912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5F5F"/>
                </a:solidFill>
                <a:latin typeface="Arial"/>
              </a:defRPr>
            </a:pPr>
            <a:r>
              <a:t>22:30–23:45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438912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1E1E"/>
                </a:solidFill>
                <a:latin typeface="Arial"/>
              </a:defRPr>
            </a:pPr>
            <a:r>
              <a:t>5/6 sensors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  <a:latin typeface="Arial"/>
              </a:defRPr>
            </a:pPr>
            <a:r>
              <a:t>Algo8 Data Scientist Assignment  | 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